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7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inside_mapa_mejo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18120" y="347472"/>
            <a:ext cx="3977639" cy="5989320"/>
          </a:xfrm>
          <a:prstGeom prst="rect">
            <a:avLst/>
          </a:prstGeom>
          <a:solidFill>
            <a:srgbClr val="040E19"/>
          </a:solidFill>
          <a:ln>
            <a:solidFill>
              <a:srgbClr val="3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5303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5BE2FF"/>
                </a:solidFill>
                <a:latin typeface="Aptos"/>
              </a:rPr>
              <a:t>NAVINSIDE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5669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Hippocampus</a:t>
            </a:r>
            <a:br/>
            <a:r>
              <a:t>se vuelve navegable.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5394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Propuesta de navegación inteligente en interiores</a:t>
            </a:r>
            <a:br/>
            <a:r>
              <a:t>sobre el plano real del resort.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Aptos"/>
              </a:rPr>
              <a:t>PILOTO TECNOLÓGICO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E2FF"/>
                </a:solidFill>
                <a:latin typeface="Aptos"/>
              </a:rPr>
              <a:t>Una experiencia tipo GPS, diseñada para interiores.</a:t>
            </a:r>
          </a:p>
        </p:txBody>
      </p:sp>
      <p:pic>
        <p:nvPicPr>
          <p:cNvPr id="11" name="Picture 10" descr="Logo futurista NavInside de navegación in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94360"/>
            <a:ext cx="4583370" cy="5349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598932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BE2FF"/>
                </a:solidFill>
                <a:latin typeface="Aptos"/>
              </a:rPr>
              <a:t>NAVEGACIÓN INTERIOR INTELIGENTE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01 · REALIDAD DEL RESORT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Hoy la orientación depende de mapas y señalética física.</a:t>
            </a:r>
          </a:p>
        </p:txBody>
      </p:sp>
      <p:pic>
        <p:nvPicPr>
          <p:cNvPr id="5" name="Picture 4" descr="1000025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3383280" cy="4297680"/>
          </a:xfrm>
          <a:prstGeom prst="rect">
            <a:avLst/>
          </a:prstGeom>
        </p:spPr>
      </p:pic>
      <p:pic>
        <p:nvPicPr>
          <p:cNvPr id="6" name="Picture 5" descr="10000250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7" y="1874519"/>
            <a:ext cx="3383280" cy="4297680"/>
          </a:xfrm>
          <a:prstGeom prst="rect">
            <a:avLst/>
          </a:prstGeom>
        </p:spPr>
      </p:pic>
      <p:pic>
        <p:nvPicPr>
          <p:cNvPr id="7" name="Picture 6" descr="10000250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1874519"/>
            <a:ext cx="3913632" cy="4297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5166360"/>
            <a:ext cx="10991088" cy="100584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21808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NavInside no reemplaza esta señalética: la convierte en una experiencia digital que acompaña al huésped durante todo el recorrido.</a:t>
            </a:r>
          </a:p>
        </p:txBody>
      </p:sp>
      <p:pic>
        <p:nvPicPr>
          <p:cNvPr id="10" name="Picture 9" descr="Logo futurista NavInside de navegación interi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02 · ACTIVO DISPONIBLE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Hippocampus ya tiene la base: un plano real con puntos de interés.</a:t>
            </a:r>
          </a:p>
        </p:txBody>
      </p:sp>
      <p:pic>
        <p:nvPicPr>
          <p:cNvPr id="5" name="Picture 4" descr="navinside_mapa_mejo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74523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828800"/>
            <a:ext cx="3246120" cy="114300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19" y="196596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16 puntos identificados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19" y="2359152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Hall, Spa, Gimnasio, Cafetería, ascensores, accesos, parque y otros.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182112"/>
            <a:ext cx="3246120" cy="114300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3319272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Dos alas de habitaciones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3712463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El mapa ya representa conexiones clave del recinto.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535424"/>
            <a:ext cx="3246120" cy="114300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4672584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Siguiente paso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5065776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Transformar el plano estático en nodos, rutas y destinos interactivos.</a:t>
            </a:r>
          </a:p>
        </p:txBody>
      </p:sp>
      <p:pic>
        <p:nvPicPr>
          <p:cNvPr id="15" name="Picture 14" descr="Logo futurista NavInside de navegación in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03 · EXPERIENCIA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Así se vería NavInside sobre el plano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EBEC9"/>
                </a:solidFill>
                <a:latin typeface="Aptos"/>
              </a:rPr>
              <a:t>Ejemplo conceptual: desde el Hall hacia el Spa.</a:t>
            </a:r>
          </a:p>
        </p:txBody>
      </p:sp>
      <p:pic>
        <p:nvPicPr>
          <p:cNvPr id="6" name="Picture 5" descr="navinside_mapa_mejo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8229600" cy="48006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 flipH="1" flipV="1">
            <a:off x="4343400" y="3794760"/>
            <a:ext cx="320040" cy="320040"/>
          </a:xfrm>
          <a:prstGeom prst="line">
            <a:avLst/>
          </a:prstGeom>
          <a:ln w="63500">
            <a:solidFill>
              <a:srgbClr val="5BE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4069080" y="3493008"/>
            <a:ext cx="274320" cy="301752"/>
          </a:xfrm>
          <a:prstGeom prst="line">
            <a:avLst/>
          </a:prstGeom>
          <a:ln w="63500">
            <a:solidFill>
              <a:srgbClr val="5BE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3840480" y="3246120"/>
            <a:ext cx="228600" cy="246888"/>
          </a:xfrm>
          <a:prstGeom prst="line">
            <a:avLst/>
          </a:prstGeom>
          <a:ln w="63500">
            <a:solidFill>
              <a:srgbClr val="5BE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840480" y="2944368"/>
            <a:ext cx="137159" cy="301752"/>
          </a:xfrm>
          <a:prstGeom prst="line">
            <a:avLst/>
          </a:prstGeom>
          <a:ln w="63500">
            <a:solidFill>
              <a:srgbClr val="5BE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44568" y="3995928"/>
            <a:ext cx="237744" cy="237744"/>
          </a:xfrm>
          <a:prstGeom prst="ellipse">
            <a:avLst/>
          </a:prstGeom>
          <a:solidFill>
            <a:srgbClr val="34D399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1" y="3950208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Usted está aquí</a:t>
            </a:r>
          </a:p>
        </p:txBody>
      </p:sp>
      <p:sp>
        <p:nvSpPr>
          <p:cNvPr id="13" name="Oval 12"/>
          <p:cNvSpPr/>
          <p:nvPr/>
        </p:nvSpPr>
        <p:spPr>
          <a:xfrm>
            <a:off x="3858768" y="2825496"/>
            <a:ext cx="237744" cy="237744"/>
          </a:xfrm>
          <a:prstGeom prst="ellipse">
            <a:avLst/>
          </a:prstGeom>
          <a:solidFill>
            <a:srgbClr val="FB923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2779776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Destino: Spa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691640"/>
            <a:ext cx="2514600" cy="4800600"/>
          </a:xfrm>
          <a:prstGeom prst="roundRect">
            <a:avLst/>
          </a:prstGeom>
          <a:solidFill>
            <a:srgbClr val="02080E"/>
          </a:solidFill>
          <a:ln w="15240">
            <a:solidFill>
              <a:srgbClr val="AE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navinside_mapa_mejo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12" y="2350008"/>
            <a:ext cx="2276856" cy="374903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125712" y="1856232"/>
            <a:ext cx="2276856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901952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5121F"/>
                </a:solidFill>
                <a:latin typeface="Aptos"/>
              </a:rPr>
              <a:t>NavInside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6135624"/>
            <a:ext cx="200253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BE2FF"/>
                </a:solidFill>
                <a:latin typeface="Aptos"/>
              </a:rPr>
              <a:t>Ruta: Hall → Spa</a:t>
            </a:r>
          </a:p>
        </p:txBody>
      </p:sp>
      <p:pic>
        <p:nvPicPr>
          <p:cNvPr id="20" name="Picture 19" descr="Logo futurista NavInside de navegación in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04 · DESTINOS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El mapa puede convertirse en un catálogo navegable de servicios.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Hall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01952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Sala de Juegos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KidsClub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828800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901952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Zona Play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16352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9504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Cafetería Proa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816352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889504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Salón Terramar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16352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89504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816352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889504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Baños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03904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77056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Sauna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803904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877056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Gimnasio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803904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877056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Salón de Belleza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3803904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877056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Salón Montemar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91456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64608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Habitaciones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40" y="4791456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4864608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Ascensores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791456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864608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Parque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4791456"/>
            <a:ext cx="2514600" cy="685800"/>
          </a:xfrm>
          <a:prstGeom prst="roundRect">
            <a:avLst/>
          </a:prstGeom>
          <a:solidFill>
            <a:srgbClr val="0E2332"/>
          </a:solidFill>
          <a:ln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4864608"/>
            <a:ext cx="23317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Piscinas / Restaurant Faro</a:t>
            </a:r>
          </a:p>
        </p:txBody>
      </p:sp>
      <p:pic>
        <p:nvPicPr>
          <p:cNvPr id="37" name="Picture 36" descr="Logo futurista NavInside de navegación 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05 · POSICIONAMIENTO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¿Cómo sabe NavInside dónde está el usuario?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29000" cy="150876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Wi‑Fi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50592"/>
            <a:ext cx="3063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Usar intensidad y patrón de señales disponibles para estimar la zona del dispositivo.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29000" cy="150876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Sensores del teléfono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50592"/>
            <a:ext cx="3063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Acelerómetro, giroscopio, brújula y pasos ayudan a estimar movimiento y orientación.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429000" cy="150876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Puntos de recalibración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50592"/>
            <a:ext cx="3063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QR/NFC y, si fuese necesario, BLE Beacons para corregir la posición.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BE2FF"/>
                </a:solidFill>
                <a:latin typeface="Aptos"/>
              </a:rPr>
              <a:t>Wi‑Fi  +  sensores  +  referencias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416052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posición estimada más robusta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AEBEC9"/>
                </a:solidFill>
                <a:latin typeface="Aptos"/>
              </a:rPr>
              <a:t>El piloto determinará qué combinación entrega la mejor relación entre precisión, costo e infraestructura.</a:t>
            </a:r>
          </a:p>
        </p:txBody>
      </p:sp>
      <p:pic>
        <p:nvPicPr>
          <p:cNvPr id="18" name="Picture 17" descr="Logo futurista NavInside de navegación 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06 ·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Diseñado para crecer sin comprometer la infraestructura del resort.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48840"/>
            <a:ext cx="2057400" cy="150876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2258568"/>
            <a:ext cx="183794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1. Plano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624328"/>
            <a:ext cx="1837943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EBEC9"/>
                </a:solidFill>
                <a:latin typeface="Aptos"/>
              </a:rPr>
              <a:t>Convertimos el plano real en un mapa utilizable.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024" y="2670048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BE2FF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2148840"/>
            <a:ext cx="2057400" cy="150876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2258568"/>
            <a:ext cx="183794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2. Red de caminos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2624328"/>
            <a:ext cx="1837943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EBEC9"/>
                </a:solidFill>
                <a:latin typeface="Aptos"/>
              </a:rPr>
              <a:t>Conectamos pasillos, accesos y destinos.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2670048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BE2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2148840"/>
            <a:ext cx="2057400" cy="150876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2258568"/>
            <a:ext cx="183794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3. Ubicación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624328"/>
            <a:ext cx="1837943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EBEC9"/>
                </a:solidFill>
                <a:latin typeface="Aptos"/>
              </a:rPr>
              <a:t>Estimamos dónde está el usuario.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670048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BE2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3" y="2148840"/>
            <a:ext cx="2057400" cy="1508760"/>
          </a:xfrm>
          <a:prstGeom prst="roundRect">
            <a:avLst/>
          </a:prstGeom>
          <a:solidFill>
            <a:srgbClr val="0E2332"/>
          </a:solidFill>
          <a:ln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2258568"/>
            <a:ext cx="183794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4. Ruta más corta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624328"/>
            <a:ext cx="1837943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EBEC9"/>
                </a:solidFill>
                <a:latin typeface="Aptos"/>
              </a:rPr>
              <a:t>El sistema calcula el mejor recorrido.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7" y="2670048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BE2F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1" y="2148840"/>
            <a:ext cx="2057400" cy="1508760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39" y="2258568"/>
            <a:ext cx="183794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5. Aplicación móvil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624328"/>
            <a:ext cx="1837943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EBEC9"/>
                </a:solidFill>
                <a:latin typeface="Aptos"/>
              </a:rPr>
              <a:t>El huésped ve y sigue la ruta.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9651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BE2FF"/>
                </a:solidFill>
                <a:latin typeface="Aptos"/>
              </a:rPr>
              <a:t>¿Qué hay detrás técnicamente?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98848"/>
            <a:ext cx="3246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Red de caminos = grafo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82896"/>
            <a:ext cx="3246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EC9"/>
                </a:solidFill>
                <a:latin typeface="Aptos"/>
              </a:rPr>
              <a:t>Representa lugares y conexiones del resort.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498848"/>
            <a:ext cx="3703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Ruta más corta = algoritmo A*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82896"/>
            <a:ext cx="3703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EC9"/>
                </a:solidFill>
                <a:latin typeface="Aptos"/>
              </a:rPr>
              <a:t>Busca eficientemente el recorrido recomendado.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98848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Tecnologías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82896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EC9"/>
                </a:solidFill>
                <a:latin typeface="Aptos"/>
              </a:rPr>
              <a:t>Ionic · Angular · TypeScript · Capacitor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  <a:latin typeface="Aptos"/>
              </a:rPr>
              <a:t>Para la presentación hablamos en lenguaje simple; “grafo” y “A*” quedan como respaldo técnico.</a:t>
            </a:r>
          </a:p>
        </p:txBody>
      </p:sp>
      <p:pic>
        <p:nvPicPr>
          <p:cNvPr id="32" name="Picture 31" descr="Logo futurista NavInside de navegación 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07 ·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Una zona. Un recorrido real. Resultados medibles.</a:t>
            </a:r>
          </a:p>
        </p:txBody>
      </p:sp>
      <p:sp>
        <p:nvSpPr>
          <p:cNvPr id="5" name="Oval 4"/>
          <p:cNvSpPr/>
          <p:nvPr/>
        </p:nvSpPr>
        <p:spPr>
          <a:xfrm>
            <a:off x="1033271" y="2194560"/>
            <a:ext cx="594360" cy="59436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1945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Seleccionar área</a:t>
            </a:r>
          </a:p>
        </p:txBody>
      </p:sp>
      <p:sp>
        <p:nvSpPr>
          <p:cNvPr id="8" name="Oval 7"/>
          <p:cNvSpPr/>
          <p:nvPr/>
        </p:nvSpPr>
        <p:spPr>
          <a:xfrm>
            <a:off x="2953512" y="2194560"/>
            <a:ext cx="594360" cy="59436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21945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97180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Modelar plano</a:t>
            </a:r>
          </a:p>
        </p:txBody>
      </p:sp>
      <p:sp>
        <p:nvSpPr>
          <p:cNvPr id="11" name="Oval 10"/>
          <p:cNvSpPr/>
          <p:nvPr/>
        </p:nvSpPr>
        <p:spPr>
          <a:xfrm>
            <a:off x="4873752" y="2194560"/>
            <a:ext cx="594360" cy="59436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21945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7180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Implementar ruta</a:t>
            </a:r>
          </a:p>
        </p:txBody>
      </p:sp>
      <p:sp>
        <p:nvSpPr>
          <p:cNvPr id="14" name="Oval 13"/>
          <p:cNvSpPr/>
          <p:nvPr/>
        </p:nvSpPr>
        <p:spPr>
          <a:xfrm>
            <a:off x="6793992" y="2194560"/>
            <a:ext cx="594360" cy="59436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21945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7180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Calibrar posición</a:t>
            </a:r>
          </a:p>
        </p:txBody>
      </p:sp>
      <p:sp>
        <p:nvSpPr>
          <p:cNvPr id="17" name="Oval 16"/>
          <p:cNvSpPr/>
          <p:nvPr/>
        </p:nvSpPr>
        <p:spPr>
          <a:xfrm>
            <a:off x="8714232" y="2194560"/>
            <a:ext cx="594360" cy="59436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21945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97180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Pruebas reales</a:t>
            </a:r>
          </a:p>
        </p:txBody>
      </p:sp>
      <p:sp>
        <p:nvSpPr>
          <p:cNvPr id="20" name="Oval 19"/>
          <p:cNvSpPr/>
          <p:nvPr/>
        </p:nvSpPr>
        <p:spPr>
          <a:xfrm>
            <a:off x="10634472" y="2194560"/>
            <a:ext cx="594360" cy="59436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34472" y="21945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97180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Informe técnico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434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BE2FF"/>
                </a:solidFill>
                <a:latin typeface="Aptos"/>
              </a:rPr>
              <a:t>Ejemplo de piloto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Hall → Spa / Gimnasio / Cafetería Proa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EBEC9"/>
                </a:solidFill>
                <a:latin typeface="Aptos"/>
              </a:rPr>
              <a:t>Objetivo: demostrar navegación y posicionamiento antes de escalar a todo el resort.</a:t>
            </a:r>
          </a:p>
        </p:txBody>
      </p:sp>
      <p:pic>
        <p:nvPicPr>
          <p:cNvPr id="26" name="Picture 25" descr="Logo futurista NavInside de navegación 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10 ·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Más que orientación: una nueva capa digital para la experiencia del huésped.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14630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Experiencia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59152"/>
            <a:ext cx="3063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Menos incertidumbre al desplazarse.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429000" cy="14630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59152"/>
            <a:ext cx="3063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Menos consultas repetitivas al personal.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429000" cy="14630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Accesibilidad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59152"/>
            <a:ext cx="3063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Base para rutas adaptadas.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3429000" cy="14630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4048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Servicios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33672"/>
            <a:ext cx="3063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Horarios, actividades y promociones.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703320"/>
            <a:ext cx="3429000" cy="14630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4048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Innovación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33672"/>
            <a:ext cx="3063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Proyecto visible de transformación digital.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03320"/>
            <a:ext cx="3429000" cy="14630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Escalabilidad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33672"/>
            <a:ext cx="3063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Habitaciones, nuevos sectores y futuras funciones.</a:t>
            </a:r>
          </a:p>
        </p:txBody>
      </p:sp>
      <p:pic>
        <p:nvPicPr>
          <p:cNvPr id="23" name="Picture 22" descr="Logo futurista NavInside de navegación 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inside_mapa_mejo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BE2FF"/>
                </a:solidFill>
                <a:latin typeface="Aptos"/>
              </a:rPr>
              <a:t>PROPUESTA AL ÁREA DE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65836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Autorizar un piloto técnico</a:t>
            </a:r>
            <a:br/>
            <a:r>
              <a:t>de NavInside.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97480"/>
            <a:ext cx="6126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Sin intervenir infraestructura crítica en la primera etapa.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57600"/>
            <a:ext cx="3291840" cy="12344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79476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Hippocampus aporta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18795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Plano, área piloto, puntos de interés y coordinación técnica.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3657600"/>
            <a:ext cx="3291840" cy="12344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379476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NavInside demuestra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418795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Mapa interactivo, ruta móvil y posicionamiento en pruebas reales.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3657600"/>
            <a:ext cx="3291840" cy="1234440"/>
          </a:xfrm>
          <a:prstGeom prst="roundRect">
            <a:avLst/>
          </a:prstGeom>
          <a:solidFill>
            <a:srgbClr val="0E2332"/>
          </a:solidFill>
          <a:ln w="1397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8704" y="379476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Decisión basada en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418795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EBEC9"/>
                </a:solidFill>
                <a:latin typeface="Aptos"/>
              </a:rPr>
              <a:t>Escalar, ajustar o descartar según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5BE2FF"/>
                </a:solidFill>
                <a:latin typeface="Aptos"/>
              </a:rPr>
              <a:t>NAVINSIDE · Navegación interior para una experiencia más inteligente</a:t>
            </a:r>
          </a:p>
        </p:txBody>
      </p:sp>
      <p:pic>
        <p:nvPicPr>
          <p:cNvPr id="17" name="Picture 16" descr="Logo futurista NavInside de navegación in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785" y="146304"/>
            <a:ext cx="548437" cy="640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6AFBE"/>
                </a:solidFill>
                <a:latin typeface="Aptos"/>
              </a:rPr>
              <a:t>NavInside · Hippocampus Resort · Propuesta de piloto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BE2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E2FF"/>
                </a:solidFill>
                <a:latin typeface="Aptos"/>
              </a:rPr>
              <a:t>09 · BENCHMARK 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¿Existe algo similar en Chile?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EBEC9"/>
                </a:solidFill>
                <a:latin typeface="Aptos"/>
              </a:rPr>
              <a:t>Sí existen antecedentes. La oportunidad es llevarlos al contexto hotelero con una experiencia más integrada.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66160" cy="1298448"/>
          </a:xfrm>
          <a:prstGeom prst="roundRect">
            <a:avLst/>
          </a:prstGeom>
          <a:solidFill>
            <a:srgbClr val="0E233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920240"/>
            <a:ext cx="33101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Parque Arauco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267712"/>
            <a:ext cx="3273552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EBEC9"/>
                </a:solidFill>
                <a:latin typeface="Aptos"/>
              </a:rPr>
              <a:t>Mapa interactivo + rutas personalizadas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1635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34D399"/>
                </a:solidFill>
                <a:latin typeface="Aptos"/>
              </a:rPr>
              <a:t>Muy cercano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566160" cy="1298448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920240"/>
            <a:ext cx="33101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Mallplaza Vespucio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267712"/>
            <a:ext cx="3273552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EBEC9"/>
                </a:solidFill>
                <a:latin typeface="Aptos"/>
              </a:rPr>
              <a:t>Mapa digital y localización por nivel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81635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A6D6"/>
                </a:solidFill>
                <a:latin typeface="Aptos"/>
              </a:rPr>
              <a:t>Referencia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3566160" cy="1298448"/>
          </a:xfrm>
          <a:prstGeom prst="roundRect">
            <a:avLst/>
          </a:prstGeom>
          <a:solidFill>
            <a:srgbClr val="0E2332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920240"/>
            <a:ext cx="33101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Aeropuerto SCL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267712"/>
            <a:ext cx="3273552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EBEC9"/>
                </a:solidFill>
                <a:latin typeface="Aptos"/>
              </a:rPr>
              <a:t>App oficial + planos por niveles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81635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B923C"/>
                </a:solidFill>
                <a:latin typeface="Aptos"/>
              </a:rPr>
              <a:t>Parcial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3566160" cy="1298448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3520440"/>
            <a:ext cx="33101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Hospital Curicó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867912"/>
            <a:ext cx="3273552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EBEC9"/>
                </a:solidFill>
                <a:latin typeface="Aptos"/>
              </a:rPr>
              <a:t>Wayfinding en 109.000 m²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1655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A6D6"/>
                </a:solidFill>
                <a:latin typeface="Aptos"/>
              </a:rPr>
              <a:t>Señalética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29000"/>
            <a:ext cx="3566160" cy="1298448"/>
          </a:xfrm>
          <a:prstGeom prst="roundRect">
            <a:avLst/>
          </a:prstGeom>
          <a:solidFill>
            <a:srgbClr val="0E2332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3520440"/>
            <a:ext cx="33101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UC Christus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867912"/>
            <a:ext cx="3273552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EBEC9"/>
                </a:solidFill>
                <a:latin typeface="Aptos"/>
              </a:rPr>
              <a:t>Wayfinding en centros médicos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41655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0A6D6"/>
                </a:solidFill>
                <a:latin typeface="Aptos"/>
              </a:rPr>
              <a:t>Señalética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429000"/>
            <a:ext cx="3566160" cy="1298448"/>
          </a:xfrm>
          <a:prstGeom prst="roundRect">
            <a:avLst/>
          </a:prstGeom>
          <a:solidFill>
            <a:srgbClr val="0E2332"/>
          </a:solidFill>
          <a:ln>
            <a:solidFill>
              <a:srgbClr val="5B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3520440"/>
            <a:ext cx="33101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NavInside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867912"/>
            <a:ext cx="3273552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EBEC9"/>
                </a:solidFill>
                <a:latin typeface="Aptos"/>
              </a:rPr>
              <a:t>Mapa + rutas + posición híbrida + servicios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41655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BE2FF"/>
                </a:solidFill>
                <a:latin typeface="Aptos"/>
              </a:rPr>
              <a:t>Propuesta resort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230368"/>
            <a:ext cx="10927080" cy="786384"/>
          </a:xfrm>
          <a:prstGeom prst="rect">
            <a:avLst/>
          </a:prstGeom>
          <a:solidFill>
            <a:srgbClr val="0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321808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E2FF"/>
                </a:solidFill>
                <a:latin typeface="Aptos"/>
              </a:rPr>
              <a:t>OPORTUNIDAD PARA HIPPOCAMPUS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559552"/>
            <a:ext cx="10378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Tecnología con antecedentes en Chile  →  adaptación hotelera  →  piloto NavInside  →  diferenciación de experiencia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172200"/>
            <a:ext cx="10789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AEBEC9"/>
                </a:solidFill>
                <a:latin typeface="Aptos"/>
              </a:rPr>
              <a:t>Fuentes: Parque Arauco App · Mallplaza · Nuevo Pudahuel · Wayfinding Consultores · Estudio Postal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109728"/>
            <a:ext cx="564107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